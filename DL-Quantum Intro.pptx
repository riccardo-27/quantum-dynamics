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91"/>
    <p:restoredTop sz="94719"/>
  </p:normalViewPr>
  <p:slideViewPr>
    <p:cSldViewPr snapToGrid="0" showGuides="1">
      <p:cViewPr varScale="1">
        <p:scale>
          <a:sx n="148" d="100"/>
          <a:sy n="148" d="100"/>
        </p:scale>
        <p:origin x="101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C3DFD-0B93-3144-81C6-64A9D72BAFB4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D6F1A-5CA5-A648-A046-5009009103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0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AA3B7-FAAC-6649-AEBF-239AA7D2A92D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63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A67694-0FB5-B3EA-58DB-02C4BA3AF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A9A11A-8435-A738-C384-642AF3FFE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570447-3277-9F74-D424-C305617C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2165B3-D2E7-D6CD-C368-0B11CEFC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128D1A-B186-1755-FDF4-AF99CEA9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353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011D14-BE6A-C300-8338-E14898E5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7C4D87-2B21-39A5-8944-3895B7672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F5B0B9-B792-5C0B-6B62-482179DA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38E75A-048B-055A-06B9-36E052BC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E554CA-1343-DF1F-9B62-8E593149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449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D5A93E-A28B-2DA4-6A9C-F50BF4AF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FF2435-BB1D-EE95-7E68-B2BE94685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AB23B4-FBFF-5A82-CD66-24ABA28A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352DF2-5609-2099-0C67-6F3D8AED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30F8A2-AD73-57AE-8B8C-2BEEEE8B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11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44720E-57D6-28CA-365B-355C12F1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422959-F00F-8A81-E8E7-CD9D37D52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3A0266-0080-413C-E4CD-321301471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A65592-E2BA-2E37-37CB-03000212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ADE8FCB-9910-4BD4-8C44-59A1603A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39DCF0-380E-4F2E-9DDF-EA6C35E6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687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BF7E22-4C2F-F100-9047-3686F55F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ACB9B2D-622C-71D6-8FB1-2C6A3984F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13A90CE-082D-F25B-78D0-660BE68C7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2B0DA64-7BB8-FCB2-B606-AE5322374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6471DD7-B323-DAF1-A596-22603B0C6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BE22E29-2996-2C95-0879-B4B84295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7CDE9C4-A588-104E-CD3E-11C26AC9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3951134-06AD-DF8C-B6D2-72CB32BA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747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7E889B-53C4-A479-6EE5-9DE4EAB4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A9A77B2-770A-6A32-0AF8-38327E8D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8E4541F-8A86-827C-7917-EAA2321A2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42895C8-DDB8-F5BC-DC0E-DDDFE7DA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951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B83285-6531-C70B-19CC-461174E5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9C82644-F638-A046-6E16-E1230046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13DBCD-E7DA-C2C4-551C-FB40E19D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580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BE5E1C-ABEA-5A11-31D9-B370FB35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3120EB-7EE7-7DEF-5558-5A2D151FF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6864410-3984-2F28-8B8D-94001DBF7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9D60C1D-D728-5FD9-2F51-2C81F916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C700084-965E-F46E-8104-713080E7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0D49E17-D363-054E-87A7-436CB9F6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351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C16491-4CE0-5E6F-33CD-A4E74DEE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A911137-BD4B-D50D-84A0-C1DFD21B2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22036BA-BE59-A7A6-9E40-4943EBA97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627E65-2AE3-36E0-A1CE-7F2C3935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219D398-ED62-5332-8270-39484FAF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CD7AD2D-0FD8-CEC2-CB08-4CA83D04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643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63B463-ADC2-0014-2A37-700F0256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E95AC22-FDB4-716D-CB73-1CB96AF27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ADF574-3216-82FC-54F2-2F3BDECE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BC65B3-D08C-29EE-C039-053CF798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93B55E-17C1-B4C6-486D-AC2DD61C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681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5EDFE3C-9D8D-3192-1FA1-17AE391DD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62A1412-0CB0-AB1C-163F-6FCCF137A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5B6586-65D1-4CE7-D6A0-FB841CC40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356AAA-92F2-490B-BE20-5560767C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3965B9-D05A-F87C-353A-84403F56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0842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8B05BA-8696-0FB7-6AF5-3C2C76C7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CE1A9CB-6DF4-3C47-C09C-A437DD250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D9E479-BA69-93BB-6FD9-1BC3A606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048321-22D2-C83F-9FBF-A45AE4F6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D3686D-8E51-BCBF-4B77-386D41B6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8500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1D8104-6A9F-75DB-8F12-9830FE6E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25C624-4F86-A1E2-2C92-015F122F2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9BD500-8AE2-4817-C29B-F5D0ADEC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BAEABB-4684-C6B0-9871-3EA933D0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5BBECD-60E9-9391-7188-20039B69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3048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448041-F76C-8335-DA59-C70FB8CB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1E40BE-E8D9-EED4-B54E-8E014032A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FCFB27-C77D-05F0-4A98-E6F4729F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BBEA7F-5547-48E2-5735-3088E076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4CFAD1-738D-8194-5B6B-0D469B88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44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D8B416-306A-5F64-5FA6-091A335D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D6847C-201F-76FA-506C-81BEC6E20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E8C08B-17E3-E173-EC0D-177594B7B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19A007-C219-8A0E-B65A-9FCC2C65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B66FA7-5DA2-7D63-F722-9AF85711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0A10D9B-8E7B-5221-8F36-8C888B7B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4379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1F5122-1A12-F27E-0CDA-5FAAD6D2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18D7F0B-3765-E116-9D3A-92C6DEF6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BFBB4B-B066-6A2C-B1DF-FCF240768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3455A98-EDF2-3D67-206F-2189AB513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D392C67-F405-DA15-7D56-B93AA7AE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253403D-738A-CF84-EDC3-08EBB07D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5F70475-D7DB-B800-838B-4A1FC095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1D508FD-5097-5660-D825-924410DC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4163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A5FF13-DADE-8FC3-D995-D875199A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052CD24-BB70-67DC-2A8E-6F03E6FB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DE592B5-ECE6-756C-E1D0-5E5F7217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26BDBBE-6138-3B66-CA0B-03E8CF82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56883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676215-9979-81EA-899E-EE958204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19F7A63-F132-1192-98F0-E3912652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1C7260-C347-01F1-DDD2-E4269788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845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43B8D9-7052-7293-CE0E-09B12635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D94038-9812-61E0-0050-96C22684D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851D18F-FAF3-0941-44E5-231DAAD9D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F1D00E9-4965-D97E-80BB-ABC46A1D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05D165-70DD-A0DE-6042-2D7528E3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748155-8824-D8E6-CAFC-BF409D42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5423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6169E-09E5-99DC-CD9A-02F3208E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079B439-CF9E-C288-7487-23E68F947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51A227-44AD-70E4-7273-7E47C44F8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26021E-117D-7644-4039-D233E9B3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4AC0C5-F634-37ED-8CA9-9AA9B8C7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AB2523-AB51-C5EF-7F9C-C806576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6805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100AFA-9F45-A22D-1347-37EB8166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72B80C4-0B66-4303-2F00-13A4CAD62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DBD38F-2BD6-04EA-2038-2A99DAE4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4957F5-660D-8FAC-8833-99C9B9AB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F6C432-9B77-85AD-3F5A-6FAF1FBF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0108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37DCC5-71C2-9E8A-32C0-BD79E68C1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2E68529-7CC5-1C0A-5CFD-E0CABEA50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B0F79D-C6E9-B6B3-462E-C1724912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3FF047-824D-84D9-9903-18863286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BA9191-4126-8A23-0CDD-0FD166BB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54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884FEE5-6235-D3B9-E985-11F995DA8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98D05AE-A194-DA77-7F19-D5C818904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477CDB-EC66-349F-F699-FA8223C87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FE182-3383-764B-9FAE-2783ED1A7EE8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881311-A853-98D9-4048-261E2D959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F290C2-1C2E-398A-396F-8760EE96F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51036-912D-094F-A95C-B54DC412D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560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DF1229B-D67E-159F-74BE-2A6477E1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BF8E17-698E-323C-763D-2FC7B15BB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0C3E1-B46E-94CE-2B12-F677FF31F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156A1-697C-7C4C-B2F7-A23784370E3C}" type="datetimeFigureOut">
              <a:rPr lang="it-IT" smtClean="0"/>
              <a:t>06/11/25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81E250-005D-D4E2-8F5C-1F090FF66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CD1280-C426-329D-AB19-3A79FD19B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147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Video 6" descr="Formule matematiche e scientifiche">
            <a:extLst>
              <a:ext uri="{FF2B5EF4-FFF2-40B4-BE49-F238E27FC236}">
                <a16:creationId xmlns:a16="http://schemas.microsoft.com/office/drawing/2014/main" id="{6CE42E8B-0C6F-FC16-8CD5-E8138F3CE6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0624957-15EF-538E-E75F-4B3420AF0478}"/>
              </a:ext>
            </a:extLst>
          </p:cNvPr>
          <p:cNvSpPr txBox="1"/>
          <p:nvPr/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Enhanced Quantum Dynamics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Open the Quantum BlackBox</a:t>
            </a:r>
          </a:p>
        </p:txBody>
      </p:sp>
    </p:spTree>
    <p:extLst>
      <p:ext uri="{BB962C8B-B14F-4D97-AF65-F5344CB8AC3E}">
        <p14:creationId xmlns:p14="http://schemas.microsoft.com/office/powerpoint/2010/main" val="101594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oogle's Willow: What It Means for the Business World">
            <a:extLst>
              <a:ext uri="{FF2B5EF4-FFF2-40B4-BE49-F238E27FC236}">
                <a16:creationId xmlns:a16="http://schemas.microsoft.com/office/drawing/2014/main" id="{7526CBDE-8D1A-BD6C-2EC4-CC00E51C1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317" y="1870672"/>
            <a:ext cx="4634013" cy="296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AB18084-F1E0-9180-9542-35F737746E8C}"/>
              </a:ext>
            </a:extLst>
          </p:cNvPr>
          <p:cNvSpPr txBox="1"/>
          <p:nvPr/>
        </p:nvSpPr>
        <p:spPr>
          <a:xfrm>
            <a:off x="8310621" y="4960190"/>
            <a:ext cx="1264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~100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Qbits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30" name="Picture 6" descr="Premio Nobel per la Fisica 2025 | Dipartimento di Fisica e Astronomia  &quot;Ettore Majorana&quot;">
            <a:extLst>
              <a:ext uri="{FF2B5EF4-FFF2-40B4-BE49-F238E27FC236}">
                <a16:creationId xmlns:a16="http://schemas.microsoft.com/office/drawing/2014/main" id="{50918CE5-C8AF-FB93-0784-9D74F5633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369" y="1635979"/>
            <a:ext cx="3693543" cy="369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345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7D90C87-D2C9-255F-52A9-37A3C85E5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1" y="310556"/>
            <a:ext cx="2355232" cy="154605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04328CC-CD1A-5067-54AD-54C246777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406" y="2288320"/>
            <a:ext cx="3564147" cy="150538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42E042-3898-E79A-A611-12B990CEF7A3}"/>
              </a:ext>
            </a:extLst>
          </p:cNvPr>
          <p:cNvSpPr txBox="1"/>
          <p:nvPr/>
        </p:nvSpPr>
        <p:spPr>
          <a:xfrm>
            <a:off x="6151891" y="3907771"/>
            <a:ext cx="54438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Quantum Chip</a:t>
            </a:r>
            <a:b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Qbits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interacts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 a non-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classical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way - Entanglement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F52DFD-823E-D964-8C92-5DFC16205B5A}"/>
              </a:ext>
            </a:extLst>
          </p:cNvPr>
          <p:cNvSpPr txBox="1"/>
          <p:nvPr/>
        </p:nvSpPr>
        <p:spPr>
          <a:xfrm>
            <a:off x="727668" y="666521"/>
            <a:ext cx="6094562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Quantum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mechanics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describes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behavior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matter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microscopic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level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atoms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molecules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materials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radiation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fundamental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particles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etc.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AD34203-2D02-D910-4F69-507C3D0BCDBF}"/>
              </a:ext>
            </a:extLst>
          </p:cNvPr>
          <p:cNvSpPr txBox="1"/>
          <p:nvPr/>
        </p:nvSpPr>
        <p:spPr>
          <a:xfrm>
            <a:off x="727668" y="2623951"/>
            <a:ext cx="6094562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>
            <a:defPPr>
              <a:defRPr lang="it-IT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Systems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composed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many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interacting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qubits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are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characterized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by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peculiar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phenomena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such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srgbClr val="DD47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entanglement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AE86363-41F8-31B5-1184-C35B29A7B0DD}"/>
              </a:ext>
            </a:extLst>
          </p:cNvPr>
          <p:cNvSpPr txBox="1"/>
          <p:nvPr/>
        </p:nvSpPr>
        <p:spPr>
          <a:xfrm>
            <a:off x="1605949" y="4827803"/>
            <a:ext cx="9014604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Problem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Complexity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scales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exponentially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with the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Qbits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qbits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&gt; 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threshold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We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cannot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understand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what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happens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(the chip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becomes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a Black Box) and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we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cannot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predict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the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behavior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!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199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EAFBB7C-BA65-4034-8F52-32E6C514E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1555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9D56ACA-1E9F-4685-8853-D3A4777AC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55"/>
            <a:ext cx="12192000" cy="6858000"/>
          </a:xfrm>
          <a:custGeom>
            <a:avLst/>
            <a:gdLst>
              <a:gd name="connsiteX0" fmla="*/ 3847754 w 12192000"/>
              <a:gd name="connsiteY0" fmla="*/ 5 h 6858000"/>
              <a:gd name="connsiteX1" fmla="*/ 3847754 w 12192000"/>
              <a:gd name="connsiteY1" fmla="*/ 4197373 h 6858000"/>
              <a:gd name="connsiteX2" fmla="*/ 4423416 w 12192000"/>
              <a:gd name="connsiteY2" fmla="*/ 4197373 h 6858000"/>
              <a:gd name="connsiteX3" fmla="*/ 4430942 w 12192000"/>
              <a:gd name="connsiteY3" fmla="*/ 4172627 h 6858000"/>
              <a:gd name="connsiteX4" fmla="*/ 4570893 w 12192000"/>
              <a:gd name="connsiteY4" fmla="*/ 4067350 h 6858000"/>
              <a:gd name="connsiteX5" fmla="*/ 5082240 w 12192000"/>
              <a:gd name="connsiteY5" fmla="*/ 4000508 h 6858000"/>
              <a:gd name="connsiteX6" fmla="*/ 5767374 w 12192000"/>
              <a:gd name="connsiteY6" fmla="*/ 3903586 h 6858000"/>
              <a:gd name="connsiteX7" fmla="*/ 6455849 w 12192000"/>
              <a:gd name="connsiteY7" fmla="*/ 3820032 h 6858000"/>
              <a:gd name="connsiteX8" fmla="*/ 7144325 w 12192000"/>
              <a:gd name="connsiteY8" fmla="*/ 3820032 h 6858000"/>
              <a:gd name="connsiteX9" fmla="*/ 7341512 w 12192000"/>
              <a:gd name="connsiteY9" fmla="*/ 3826717 h 6858000"/>
              <a:gd name="connsiteX10" fmla="*/ 7344854 w 12192000"/>
              <a:gd name="connsiteY10" fmla="*/ 3826717 h 6858000"/>
              <a:gd name="connsiteX11" fmla="*/ 7534641 w 12192000"/>
              <a:gd name="connsiteY11" fmla="*/ 3832816 h 6858000"/>
              <a:gd name="connsiteX12" fmla="*/ 7534641 w 12192000"/>
              <a:gd name="connsiteY12" fmla="*/ 5 h 6858000"/>
              <a:gd name="connsiteX13" fmla="*/ 3728859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1 h 6858000"/>
              <a:gd name="connsiteX16" fmla="*/ 7653538 w 12192000"/>
              <a:gd name="connsiteY16" fmla="*/ 1 h 6858000"/>
              <a:gd name="connsiteX17" fmla="*/ 7653538 w 12192000"/>
              <a:gd name="connsiteY17" fmla="*/ 3836633 h 6858000"/>
              <a:gd name="connsiteX18" fmla="*/ 7773901 w 12192000"/>
              <a:gd name="connsiteY18" fmla="*/ 3840500 h 6858000"/>
              <a:gd name="connsiteX19" fmla="*/ 8200440 w 12192000"/>
              <a:gd name="connsiteY19" fmla="*/ 3856793 h 6858000"/>
              <a:gd name="connsiteX20" fmla="*/ 8517940 w 12192000"/>
              <a:gd name="connsiteY20" fmla="*/ 3860135 h 6858000"/>
              <a:gd name="connsiteX21" fmla="*/ 9206418 w 12192000"/>
              <a:gd name="connsiteY21" fmla="*/ 3863477 h 6858000"/>
              <a:gd name="connsiteX22" fmla="*/ 9891553 w 12192000"/>
              <a:gd name="connsiteY22" fmla="*/ 3850108 h 6858000"/>
              <a:gd name="connsiteX23" fmla="*/ 10586714 w 12192000"/>
              <a:gd name="connsiteY23" fmla="*/ 3810003 h 6858000"/>
              <a:gd name="connsiteX24" fmla="*/ 11271848 w 12192000"/>
              <a:gd name="connsiteY24" fmla="*/ 3756529 h 6858000"/>
              <a:gd name="connsiteX25" fmla="*/ 11709667 w 12192000"/>
              <a:gd name="connsiteY25" fmla="*/ 3636212 h 6858000"/>
              <a:gd name="connsiteX26" fmla="*/ 12184248 w 12192000"/>
              <a:gd name="connsiteY26" fmla="*/ 3429001 h 6858000"/>
              <a:gd name="connsiteX27" fmla="*/ 12192000 w 12192000"/>
              <a:gd name="connsiteY27" fmla="*/ 3437173 h 6858000"/>
              <a:gd name="connsiteX28" fmla="*/ 12192000 w 12192000"/>
              <a:gd name="connsiteY28" fmla="*/ 6858000 h 6858000"/>
              <a:gd name="connsiteX29" fmla="*/ 0 w 12192000"/>
              <a:gd name="connsiteY29" fmla="*/ 6858000 h 6858000"/>
              <a:gd name="connsiteX30" fmla="*/ 0 w 12192000"/>
              <a:gd name="connsiteY30" fmla="*/ 6857989 h 6858000"/>
              <a:gd name="connsiteX31" fmla="*/ 6542821 w 12192000"/>
              <a:gd name="connsiteY31" fmla="*/ 6857989 h 6858000"/>
              <a:gd name="connsiteX32" fmla="*/ 6553813 w 12192000"/>
              <a:gd name="connsiteY32" fmla="*/ 6856417 h 6858000"/>
              <a:gd name="connsiteX33" fmla="*/ 6836849 w 12192000"/>
              <a:gd name="connsiteY33" fmla="*/ 6797865 h 6858000"/>
              <a:gd name="connsiteX34" fmla="*/ 5951187 w 12192000"/>
              <a:gd name="connsiteY34" fmla="*/ 6644126 h 6858000"/>
              <a:gd name="connsiteX35" fmla="*/ 6001320 w 12192000"/>
              <a:gd name="connsiteY35" fmla="*/ 6624073 h 6858000"/>
              <a:gd name="connsiteX36" fmla="*/ 5904397 w 12192000"/>
              <a:gd name="connsiteY36" fmla="*/ 6543863 h 6858000"/>
              <a:gd name="connsiteX37" fmla="*/ 5506684 w 12192000"/>
              <a:gd name="connsiteY37" fmla="*/ 6416862 h 6858000"/>
              <a:gd name="connsiteX38" fmla="*/ 6001320 w 12192000"/>
              <a:gd name="connsiteY38" fmla="*/ 6202967 h 6858000"/>
              <a:gd name="connsiteX39" fmla="*/ 5443186 w 12192000"/>
              <a:gd name="connsiteY39" fmla="*/ 5912202 h 6858000"/>
              <a:gd name="connsiteX40" fmla="*/ 5159104 w 12192000"/>
              <a:gd name="connsiteY40" fmla="*/ 5842017 h 6858000"/>
              <a:gd name="connsiteX41" fmla="*/ 6094899 w 12192000"/>
              <a:gd name="connsiteY41" fmla="*/ 5477726 h 6858000"/>
              <a:gd name="connsiteX42" fmla="*/ 4577576 w 12192000"/>
              <a:gd name="connsiteY42" fmla="*/ 5297251 h 6858000"/>
              <a:gd name="connsiteX43" fmla="*/ 4701234 w 12192000"/>
              <a:gd name="connsiteY43" fmla="*/ 5223724 h 6858000"/>
              <a:gd name="connsiteX44" fmla="*/ 5643712 w 12192000"/>
              <a:gd name="connsiteY44" fmla="*/ 5243777 h 6858000"/>
              <a:gd name="connsiteX45" fmla="*/ 5800793 w 12192000"/>
              <a:gd name="connsiteY45" fmla="*/ 5186961 h 6858000"/>
              <a:gd name="connsiteX46" fmla="*/ 5643712 w 12192000"/>
              <a:gd name="connsiteY46" fmla="*/ 5096724 h 6858000"/>
              <a:gd name="connsiteX47" fmla="*/ 5032104 w 12192000"/>
              <a:gd name="connsiteY47" fmla="*/ 5029881 h 6858000"/>
              <a:gd name="connsiteX48" fmla="*/ 4871682 w 12192000"/>
              <a:gd name="connsiteY48" fmla="*/ 4879485 h 6858000"/>
              <a:gd name="connsiteX49" fmla="*/ 4600971 w 12192000"/>
              <a:gd name="connsiteY49" fmla="*/ 4705695 h 6858000"/>
              <a:gd name="connsiteX50" fmla="*/ 4788128 w 12192000"/>
              <a:gd name="connsiteY50" fmla="*/ 4561984 h 6858000"/>
              <a:gd name="connsiteX51" fmla="*/ 4483995 w 12192000"/>
              <a:gd name="connsiteY51" fmla="*/ 4348088 h 6858000"/>
              <a:gd name="connsiteX52" fmla="*/ 4460097 w 12192000"/>
              <a:gd name="connsiteY52" fmla="*/ 4316252 h 6858000"/>
              <a:gd name="connsiteX53" fmla="*/ 0 w 12192000"/>
              <a:gd name="connsiteY53" fmla="*/ 4316252 h 6858000"/>
              <a:gd name="connsiteX54" fmla="*/ 0 w 12192000"/>
              <a:gd name="connsiteY54" fmla="*/ 4197368 h 6858000"/>
              <a:gd name="connsiteX55" fmla="*/ 3728859 w 12192000"/>
              <a:gd name="connsiteY55" fmla="*/ 41973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6858000">
                <a:moveTo>
                  <a:pt x="3847754" y="5"/>
                </a:moveTo>
                <a:lnTo>
                  <a:pt x="3847754" y="4197373"/>
                </a:lnTo>
                <a:lnTo>
                  <a:pt x="4423416" y="4197373"/>
                </a:lnTo>
                <a:lnTo>
                  <a:pt x="4430942" y="4172627"/>
                </a:lnTo>
                <a:cubicBezTo>
                  <a:pt x="4453920" y="4128344"/>
                  <a:pt x="4509064" y="4095758"/>
                  <a:pt x="4570893" y="4067350"/>
                </a:cubicBezTo>
                <a:cubicBezTo>
                  <a:pt x="4731315" y="3997165"/>
                  <a:pt x="4908447" y="4013876"/>
                  <a:pt x="5082240" y="4000508"/>
                </a:cubicBezTo>
                <a:cubicBezTo>
                  <a:pt x="5312846" y="3970428"/>
                  <a:pt x="5533424" y="3900244"/>
                  <a:pt x="5767374" y="3903586"/>
                </a:cubicBezTo>
                <a:cubicBezTo>
                  <a:pt x="5987953" y="3833401"/>
                  <a:pt x="6231927" y="3910270"/>
                  <a:pt x="6455849" y="3820032"/>
                </a:cubicBezTo>
                <a:cubicBezTo>
                  <a:pt x="6683114" y="3820032"/>
                  <a:pt x="6913720" y="3820032"/>
                  <a:pt x="7144325" y="3820032"/>
                </a:cubicBezTo>
                <a:cubicBezTo>
                  <a:pt x="7211170" y="3823375"/>
                  <a:pt x="7274668" y="3823375"/>
                  <a:pt x="7341512" y="3826717"/>
                </a:cubicBezTo>
                <a:cubicBezTo>
                  <a:pt x="7341512" y="3826717"/>
                  <a:pt x="7344854" y="3826717"/>
                  <a:pt x="7344854" y="3826717"/>
                </a:cubicBezTo>
                <a:lnTo>
                  <a:pt x="7534641" y="3832816"/>
                </a:lnTo>
                <a:lnTo>
                  <a:pt x="7534641" y="5"/>
                </a:lnTo>
                <a:close/>
                <a:moveTo>
                  <a:pt x="3728859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7653538" y="1"/>
                </a:lnTo>
                <a:lnTo>
                  <a:pt x="7653538" y="3836633"/>
                </a:lnTo>
                <a:lnTo>
                  <a:pt x="7773901" y="3840500"/>
                </a:lnTo>
                <a:cubicBezTo>
                  <a:pt x="7916359" y="3845096"/>
                  <a:pt x="8058399" y="3850109"/>
                  <a:pt x="8200440" y="3856793"/>
                </a:cubicBezTo>
                <a:cubicBezTo>
                  <a:pt x="8307387" y="3856793"/>
                  <a:pt x="8410993" y="3860135"/>
                  <a:pt x="8517940" y="3860135"/>
                </a:cubicBezTo>
                <a:cubicBezTo>
                  <a:pt x="8745205" y="3876845"/>
                  <a:pt x="8975812" y="3886871"/>
                  <a:pt x="9206418" y="3863477"/>
                </a:cubicBezTo>
                <a:cubicBezTo>
                  <a:pt x="9437024" y="3883530"/>
                  <a:pt x="9660946" y="3870162"/>
                  <a:pt x="9891553" y="3850108"/>
                </a:cubicBezTo>
                <a:cubicBezTo>
                  <a:pt x="10125500" y="3873504"/>
                  <a:pt x="10356108" y="3840082"/>
                  <a:pt x="10586714" y="3810003"/>
                </a:cubicBezTo>
                <a:cubicBezTo>
                  <a:pt x="10817321" y="3823372"/>
                  <a:pt x="11047927" y="3823372"/>
                  <a:pt x="11271848" y="3756529"/>
                </a:cubicBezTo>
                <a:cubicBezTo>
                  <a:pt x="11442298" y="3830056"/>
                  <a:pt x="11525851" y="3589423"/>
                  <a:pt x="11709667" y="3636212"/>
                </a:cubicBezTo>
                <a:cubicBezTo>
                  <a:pt x="11893484" y="3686345"/>
                  <a:pt x="12023827" y="3495843"/>
                  <a:pt x="12184248" y="3429001"/>
                </a:cubicBezTo>
                <a:lnTo>
                  <a:pt x="12192000" y="3437173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57989"/>
                </a:lnTo>
                <a:lnTo>
                  <a:pt x="6542821" y="6857989"/>
                </a:lnTo>
                <a:lnTo>
                  <a:pt x="6553813" y="6856417"/>
                </a:lnTo>
                <a:cubicBezTo>
                  <a:pt x="6636844" y="6844080"/>
                  <a:pt x="6761651" y="6822931"/>
                  <a:pt x="6836849" y="6797865"/>
                </a:cubicBezTo>
                <a:cubicBezTo>
                  <a:pt x="6663059" y="6794522"/>
                  <a:pt x="5977924" y="6667523"/>
                  <a:pt x="5951187" y="6644126"/>
                </a:cubicBezTo>
                <a:cubicBezTo>
                  <a:pt x="5964556" y="6637442"/>
                  <a:pt x="5984611" y="6630759"/>
                  <a:pt x="6001320" y="6624073"/>
                </a:cubicBezTo>
                <a:cubicBezTo>
                  <a:pt x="5964556" y="6604022"/>
                  <a:pt x="5934477" y="6580627"/>
                  <a:pt x="5904397" y="6543863"/>
                </a:cubicBezTo>
                <a:cubicBezTo>
                  <a:pt x="5807476" y="6420205"/>
                  <a:pt x="5643712" y="6463653"/>
                  <a:pt x="5506684" y="6416862"/>
                </a:cubicBezTo>
                <a:cubicBezTo>
                  <a:pt x="5593580" y="6156177"/>
                  <a:pt x="5824187" y="6253098"/>
                  <a:pt x="6001320" y="6202967"/>
                </a:cubicBezTo>
                <a:cubicBezTo>
                  <a:pt x="5536764" y="6049228"/>
                  <a:pt x="5627001" y="5969017"/>
                  <a:pt x="5443186" y="5912202"/>
                </a:cubicBezTo>
                <a:cubicBezTo>
                  <a:pt x="5212579" y="5842017"/>
                  <a:pt x="5159104" y="5842017"/>
                  <a:pt x="5159104" y="5842017"/>
                </a:cubicBezTo>
                <a:cubicBezTo>
                  <a:pt x="5429816" y="5628122"/>
                  <a:pt x="5754003" y="5858729"/>
                  <a:pt x="6094899" y="5477726"/>
                </a:cubicBezTo>
                <a:cubicBezTo>
                  <a:pt x="5767371" y="5424253"/>
                  <a:pt x="4788128" y="5397515"/>
                  <a:pt x="4577576" y="5297251"/>
                </a:cubicBezTo>
                <a:cubicBezTo>
                  <a:pt x="4657786" y="5334014"/>
                  <a:pt x="4664471" y="5223724"/>
                  <a:pt x="4701234" y="5223724"/>
                </a:cubicBezTo>
                <a:cubicBezTo>
                  <a:pt x="5012051" y="5220383"/>
                  <a:pt x="5329552" y="5283884"/>
                  <a:pt x="5643712" y="5243777"/>
                </a:cubicBezTo>
                <a:cubicBezTo>
                  <a:pt x="5700528" y="5240436"/>
                  <a:pt x="5790766" y="5270513"/>
                  <a:pt x="5800793" y="5186961"/>
                </a:cubicBezTo>
                <a:cubicBezTo>
                  <a:pt x="5810818" y="5083355"/>
                  <a:pt x="5693843" y="5106750"/>
                  <a:pt x="5643712" y="5096724"/>
                </a:cubicBezTo>
                <a:cubicBezTo>
                  <a:pt x="5439842" y="5063302"/>
                  <a:pt x="5239316" y="5049935"/>
                  <a:pt x="5032104" y="5029881"/>
                </a:cubicBezTo>
                <a:cubicBezTo>
                  <a:pt x="4945209" y="5019854"/>
                  <a:pt x="4838261" y="5039907"/>
                  <a:pt x="4871682" y="4879485"/>
                </a:cubicBezTo>
                <a:cubicBezTo>
                  <a:pt x="4844944" y="4725749"/>
                  <a:pt x="4684523" y="4779222"/>
                  <a:pt x="4600971" y="4705695"/>
                </a:cubicBezTo>
                <a:cubicBezTo>
                  <a:pt x="4641075" y="4618800"/>
                  <a:pt x="4754708" y="4678959"/>
                  <a:pt x="4788128" y="4561984"/>
                </a:cubicBezTo>
                <a:cubicBezTo>
                  <a:pt x="4627707" y="4598747"/>
                  <a:pt x="4644418" y="4344747"/>
                  <a:pt x="4483995" y="4348088"/>
                </a:cubicBezTo>
                <a:lnTo>
                  <a:pt x="4460097" y="4316252"/>
                </a:lnTo>
                <a:lnTo>
                  <a:pt x="0" y="4316252"/>
                </a:lnTo>
                <a:lnTo>
                  <a:pt x="0" y="4197368"/>
                </a:lnTo>
                <a:lnTo>
                  <a:pt x="3728859" y="4197368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8B5AFC3-AB35-58F8-8D0F-AEFBEB886157}"/>
              </a:ext>
            </a:extLst>
          </p:cNvPr>
          <p:cNvSpPr txBox="1"/>
          <p:nvPr/>
        </p:nvSpPr>
        <p:spPr>
          <a:xfrm>
            <a:off x="6343650" y="4181474"/>
            <a:ext cx="5505814" cy="14713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IDEA: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Let a Neural Network predict the dynamics to allow for Chips with a greater number of Qbits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565AC39-DC8B-A8DC-96FE-E88CF99AC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423" y="211667"/>
            <a:ext cx="2606039" cy="321733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3D59B85-4B93-E448-CA97-2BD6D5E9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891" y="570626"/>
            <a:ext cx="2897872" cy="249941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C8B3A94-809B-95E8-D3C1-F89E412CF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08" y="430635"/>
            <a:ext cx="3385046" cy="286882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3D2C79D-47ED-FE33-AFE5-FFCF7A34E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01" y="1708960"/>
            <a:ext cx="821916" cy="68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08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B086EF8-3625-C1AB-0932-431785253DE1}"/>
              </a:ext>
            </a:extLst>
          </p:cNvPr>
          <p:cNvSpPr txBox="1"/>
          <p:nvPr/>
        </p:nvSpPr>
        <p:spPr>
          <a:xfrm>
            <a:off x="1796217" y="1422801"/>
            <a:ext cx="8020445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Challenges: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Find the shorter time window which yields to the best predictions!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3600" dirty="0">
                <a:solidFill>
                  <a:srgbClr val="0E2841"/>
                </a:solidFill>
                <a:latin typeface="Aptos Display" panose="02110004020202020204"/>
              </a:rPr>
              <a:t>Enable Super Resolution!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Explain </a:t>
            </a:r>
            <a:r>
              <a:rPr lang="en-US" sz="3600" dirty="0">
                <a:solidFill>
                  <a:srgbClr val="0E2841"/>
                </a:solidFill>
                <a:latin typeface="Aptos Display" panose="02110004020202020204"/>
              </a:rPr>
              <a:t>Predictions using attention maps!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310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140</Words>
  <Application>Microsoft Macintosh PowerPoint</Application>
  <PresentationFormat>Widescreen</PresentationFormat>
  <Paragraphs>15</Paragraphs>
  <Slides>5</Slides>
  <Notes>1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ADORNETTO</dc:creator>
  <cp:lastModifiedBy>CARLO ADORNETTO</cp:lastModifiedBy>
  <cp:revision>1</cp:revision>
  <dcterms:created xsi:type="dcterms:W3CDTF">2025-11-16T19:38:29Z</dcterms:created>
  <dcterms:modified xsi:type="dcterms:W3CDTF">2025-11-16T19:47:27Z</dcterms:modified>
</cp:coreProperties>
</file>